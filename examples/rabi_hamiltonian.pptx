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Rabi Hamiltonian (QuTiP)</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Felix Velasquez</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Hamiltonian for the Two Level System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In the two level system we are using the Jaynes-Cumming model for which the Hamiltonian is given by:</a:t>
                </a:r>
              </a:p>
              <a:p>
                <a:pPr lvl="0" indent="0" marL="0">
                  <a:buNone/>
                </a:pPr>
                <a14:m>
                  <m:oMathPara xmlns:m="http://schemas.openxmlformats.org/officeDocument/2006/math">
                    <m:oMathParaPr>
                      <m:jc m:val="center"/>
                    </m:oMathParaPr>
                    <m:oMath>
                      <m:r>
                        <m:t>H</m:t>
                      </m:r>
                      <m:r>
                        <m:rPr>
                          <m:sty m:val="p"/>
                        </m:rPr>
                        <m:t>=</m:t>
                      </m:r>
                      <m:r>
                        <m:rPr>
                          <m:sty m:val="p"/>
                        </m:rPr>
                        <m:t>ℏ</m:t>
                      </m:r>
                      <m:sSub>
                        <m:e>
                          <m:r>
                            <m:t>ω</m:t>
                          </m:r>
                        </m:e>
                        <m:sub>
                          <m:r>
                            <m:t>c</m:t>
                          </m:r>
                        </m:sub>
                      </m:sSub>
                      <m:sSup>
                        <m:e>
                          <m:r>
                            <m:t>a</m:t>
                          </m:r>
                        </m:e>
                        <m:sup>
                          <m:r>
                            <m:rPr>
                              <m:sty m:val="p"/>
                            </m:rPr>
                            <m:t>†</m:t>
                          </m:r>
                        </m:sup>
                      </m:sSup>
                      <m:r>
                        <m:t>a</m:t>
                      </m:r>
                      <m:r>
                        <m:rPr>
                          <m:sty m:val="p"/>
                        </m:rPr>
                        <m:t>+</m:t>
                      </m:r>
                      <m:f>
                        <m:fPr>
                          <m:type m:val="bar"/>
                        </m:fPr>
                        <m:num>
                          <m:r>
                            <m:t>1</m:t>
                          </m:r>
                        </m:num>
                        <m:den>
                          <m:r>
                            <m:t>2</m:t>
                          </m:r>
                        </m:den>
                      </m:f>
                      <m:r>
                        <m:rPr>
                          <m:sty m:val="p"/>
                        </m:rPr>
                        <m:t>ℏ</m:t>
                      </m:r>
                      <m:sSub>
                        <m:e>
                          <m:r>
                            <m:t>ω</m:t>
                          </m:r>
                        </m:e>
                        <m:sub>
                          <m:r>
                            <m:t>a</m:t>
                          </m:r>
                        </m:sub>
                      </m:sSub>
                      <m:sSub>
                        <m:e>
                          <m:r>
                            <m:t>σ</m:t>
                          </m:r>
                        </m:e>
                        <m:sub>
                          <m:r>
                            <m:t>z</m:t>
                          </m:r>
                        </m:sub>
                      </m:sSub>
                      <m:r>
                        <m:rPr>
                          <m:sty m:val="p"/>
                        </m:rPr>
                        <m:t>+</m:t>
                      </m:r>
                      <m:r>
                        <m:rPr>
                          <m:sty m:val="p"/>
                        </m:rPr>
                        <m:t>ℏ</m:t>
                      </m:r>
                      <m:r>
                        <m:t>g</m:t>
                      </m:r>
                      <m:d>
                        <m:dPr>
                          <m:begChr m:val="("/>
                          <m:sepChr m:val=""/>
                          <m:endChr m:val=")"/>
                          <m:grow/>
                        </m:dPr>
                        <m:e>
                          <m:sSup>
                            <m:e>
                              <m:r>
                                <m:t>a</m:t>
                              </m:r>
                            </m:e>
                            <m:sup>
                              <m:r>
                                <m:rPr>
                                  <m:sty m:val="p"/>
                                </m:rPr>
                                <m:t>†</m:t>
                              </m:r>
                            </m:sup>
                          </m:sSup>
                          <m:r>
                            <m:rPr>
                              <m:sty m:val="p"/>
                            </m:rPr>
                            <m:t>+</m:t>
                          </m:r>
                          <m:r>
                            <m:t>a</m:t>
                          </m:r>
                        </m:e>
                      </m:d>
                      <m:d>
                        <m:dPr>
                          <m:begChr m:val="("/>
                          <m:sepChr m:val=""/>
                          <m:endChr m:val=")"/>
                          <m:grow/>
                        </m:dPr>
                        <m:e>
                          <m:sSub>
                            <m:e>
                              <m:r>
                                <m:t>σ</m:t>
                              </m:r>
                            </m:e>
                            <m:sub>
                              <m:r>
                                <m:rPr>
                                  <m:sty m:val="p"/>
                                </m:rPr>
                                <m:t>−</m:t>
                              </m:r>
                            </m:sub>
                          </m:sSub>
                          <m:r>
                            <m:rPr>
                              <m:sty m:val="p"/>
                            </m:rPr>
                            <m:t>+</m:t>
                          </m:r>
                          <m:r>
                            <m:t>σ</m:t>
                          </m:r>
                          <m:r>
                            <m:rPr>
                              <m:sty m:val="p"/>
                            </m:rPr>
                            <m:t>+</m:t>
                          </m:r>
                        </m:e>
                      </m:d>
                    </m:oMath>
                  </m:oMathPara>
                </a14:m>
              </a:p>
              <a:p>
                <a:pPr lvl="0" indent="0" marL="0">
                  <a:buNone/>
                </a:pPr>
                <a:r>
                  <a:rPr/>
                  <a:t>or in the rotating wave approximation we have:</a:t>
                </a:r>
              </a:p>
              <a:p>
                <a:pPr lvl="0" indent="0" marL="0">
                  <a:buNone/>
                </a:pPr>
                <a14:m>
                  <m:oMathPara xmlns:m="http://schemas.openxmlformats.org/officeDocument/2006/math">
                    <m:oMathParaPr>
                      <m:jc m:val="center"/>
                    </m:oMathParaPr>
                    <m:oMath>
                      <m:r>
                        <m:t>H</m:t>
                      </m:r>
                      <m:r>
                        <m:rPr>
                          <m:sty m:val="p"/>
                        </m:rPr>
                        <m:t>=</m:t>
                      </m:r>
                      <m:r>
                        <m:rPr>
                          <m:sty m:val="p"/>
                        </m:rPr>
                        <m:t>ℏ</m:t>
                      </m:r>
                      <m:sSub>
                        <m:e>
                          <m:r>
                            <m:t>ω</m:t>
                          </m:r>
                        </m:e>
                        <m:sub>
                          <m:r>
                            <m:t>c</m:t>
                          </m:r>
                        </m:sub>
                      </m:sSub>
                      <m:sSup>
                        <m:e>
                          <m:r>
                            <m:t>a</m:t>
                          </m:r>
                        </m:e>
                        <m:sup>
                          <m:r>
                            <m:rPr>
                              <m:sty m:val="p"/>
                            </m:rPr>
                            <m:t>†</m:t>
                          </m:r>
                        </m:sup>
                      </m:sSup>
                      <m:r>
                        <m:t>a</m:t>
                      </m:r>
                      <m:r>
                        <m:rPr>
                          <m:sty m:val="p"/>
                        </m:rPr>
                        <m:t>+</m:t>
                      </m:r>
                      <m:f>
                        <m:fPr>
                          <m:type m:val="bar"/>
                        </m:fPr>
                        <m:num>
                          <m:r>
                            <m:t>1</m:t>
                          </m:r>
                        </m:num>
                        <m:den>
                          <m:r>
                            <m:t>2</m:t>
                          </m:r>
                        </m:den>
                      </m:f>
                      <m:r>
                        <m:rPr>
                          <m:sty m:val="p"/>
                        </m:rPr>
                        <m:t>ℏ</m:t>
                      </m:r>
                      <m:sSub>
                        <m:e>
                          <m:r>
                            <m:t>ω</m:t>
                          </m:r>
                        </m:e>
                        <m:sub>
                          <m:r>
                            <m:t>a</m:t>
                          </m:r>
                        </m:sub>
                      </m:sSub>
                      <m:sSub>
                        <m:e>
                          <m:r>
                            <m:t>σ</m:t>
                          </m:r>
                        </m:e>
                        <m:sub>
                          <m:r>
                            <m:t>z</m:t>
                          </m:r>
                        </m:sub>
                      </m:sSub>
                      <m:r>
                        <m:rPr>
                          <m:sty m:val="p"/>
                        </m:rPr>
                        <m:t>+</m:t>
                      </m:r>
                      <m:r>
                        <m:rPr>
                          <m:sty m:val="p"/>
                        </m:rPr>
                        <m:t>ℏ</m:t>
                      </m:r>
                      <m:r>
                        <m:t>g</m:t>
                      </m:r>
                      <m:d>
                        <m:dPr>
                          <m:begChr m:val="("/>
                          <m:sepChr m:val=""/>
                          <m:endChr m:val=")"/>
                          <m:grow/>
                        </m:dPr>
                        <m:e>
                          <m:sSup>
                            <m:e>
                              <m:r>
                                <m:t>a</m:t>
                              </m:r>
                            </m:e>
                            <m:sup>
                              <m:r>
                                <m:rPr>
                                  <m:sty m:val="p"/>
                                </m:rPr>
                                <m:t>†</m:t>
                              </m:r>
                            </m:sup>
                          </m:sSup>
                          <m:sSub>
                            <m:e>
                              <m:r>
                                <m:t>σ</m:t>
                              </m:r>
                            </m:e>
                            <m:sub>
                              <m:r>
                                <m:rPr>
                                  <m:sty m:val="p"/>
                                </m:rPr>
                                <m:t>−</m:t>
                              </m:r>
                            </m:sub>
                          </m:sSub>
                          <m:r>
                            <m:rPr>
                              <m:sty m:val="p"/>
                            </m:rPr>
                            <m:t>+</m:t>
                          </m:r>
                          <m:r>
                            <m:t>a</m:t>
                          </m:r>
                          <m:sSub>
                            <m:e>
                              <m:r>
                                <m:t>σ</m:t>
                              </m:r>
                            </m:e>
                            <m:sub>
                              <m:r>
                                <m:rPr>
                                  <m:sty m:val="p"/>
                                </m:rPr>
                                <m:t>+</m:t>
                              </m:r>
                            </m:sub>
                          </m:sSub>
                        </m:e>
                      </m:d>
                    </m:oMath>
                  </m:oMathPara>
                </a14:m>
              </a:p>
            </p:txBody>
          </p:sp>
        </mc:Choice>
      </mc:AlternateContent>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 Explanations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14:m>
                  <m:oMath xmlns:m="http://schemas.openxmlformats.org/officeDocument/2006/math">
                    <m:sSub>
                      <m:e>
                        <m:r>
                          <m:t>ω</m:t>
                        </m:r>
                      </m:e>
                      <m:sub>
                        <m:r>
                          <m:t>c</m:t>
                        </m:r>
                      </m:sub>
                    </m:sSub>
                  </m:oMath>
                </a14:m>
                <a:r>
                  <a:rPr/>
                  <a:t> - is the frequency of the cavity</a:t>
                </a:r>
              </a:p>
              <a:p>
                <a:pPr lvl="0"/>
                <a14:m>
                  <m:oMath xmlns:m="http://schemas.openxmlformats.org/officeDocument/2006/math">
                    <m:sSub>
                      <m:e>
                        <m:r>
                          <m:t>ω</m:t>
                        </m:r>
                      </m:e>
                      <m:sub>
                        <m:r>
                          <m:t>a</m:t>
                        </m:r>
                      </m:sub>
                    </m:sSub>
                  </m:oMath>
                </a14:m>
                <a:r>
                  <a:rPr/>
                  <a:t> - is the frequency of the atom</a:t>
                </a:r>
              </a:p>
              <a:p>
                <a:pPr lvl="0"/>
                <a14:m>
                  <m:oMath xmlns:m="http://schemas.openxmlformats.org/officeDocument/2006/math">
                    <m:r>
                      <m:t>g</m:t>
                    </m:r>
                  </m:oMath>
                </a14:m>
                <a:r>
                  <a:rPr/>
                  <a:t> - is the interaction strength between the two levels</a:t>
                </a:r>
              </a:p>
              <a:p>
                <a:pPr lvl="0"/>
                <a14:m>
                  <m:oMath xmlns:m="http://schemas.openxmlformats.org/officeDocument/2006/math">
                    <m:sSub>
                      <m:e>
                        <m:r>
                          <m:t>σ</m:t>
                        </m:r>
                      </m:e>
                      <m:sub>
                        <m:r>
                          <m:rPr>
                            <m:sty m:val="p"/>
                          </m:rPr>
                          <m:t>+</m:t>
                        </m:r>
                      </m:sub>
                    </m:sSub>
                  </m:oMath>
                </a14:m>
                <a:r>
                  <a:rPr/>
                  <a:t> and </a:t>
                </a:r>
                <a14:m>
                  <m:oMath xmlns:m="http://schemas.openxmlformats.org/officeDocument/2006/math">
                    <m:sSub>
                      <m:e>
                        <m:r>
                          <m:t>σ</m:t>
                        </m:r>
                      </m:e>
                      <m:sub>
                        <m:r>
                          <m:rPr>
                            <m:sty m:val="p"/>
                          </m:rPr>
                          <m:t>−</m:t>
                        </m:r>
                      </m:sub>
                    </m:sSub>
                  </m:oMath>
                </a14:m>
                <a:r>
                  <a:rPr/>
                  <a:t> are the raising and lowering operators respectively, this can be understood as the operators that take a system to the excited state and back down to the ground state respectively</a:t>
                </a:r>
              </a:p>
              <a:p>
                <a:pPr lvl="0"/>
                <a14:m>
                  <m:oMath xmlns:m="http://schemas.openxmlformats.org/officeDocument/2006/math">
                    <m:sSub>
                      <m:e>
                        <m:r>
                          <m:t>σ</m:t>
                        </m:r>
                      </m:e>
                      <m:sub>
                        <m:r>
                          <m:t>z</m:t>
                        </m:r>
                      </m:sub>
                    </m:sSub>
                  </m:oMath>
                </a14:m>
                <a:r>
                  <a:rPr/>
                  <a:t> is the atomic inversion operator, that is the operator that tells us how the populations of each state differ (would be nice to double check this, I am going off intuition have not found a solid description)</a:t>
                </a:r>
              </a:p>
              <a:p>
                <a:pPr lvl="0"/>
                <a14:m>
                  <m:oMath xmlns:m="http://schemas.openxmlformats.org/officeDocument/2006/math">
                    <m:r>
                      <m:t>a</m:t>
                    </m:r>
                  </m:oMath>
                </a14:m>
                <a:r>
                  <a:rPr/>
                  <a:t> and </a:t>
                </a:r>
                <a14:m>
                  <m:oMath xmlns:m="http://schemas.openxmlformats.org/officeDocument/2006/math">
                    <m:sSup>
                      <m:e>
                        <m:r>
                          <m:t>a</m:t>
                        </m:r>
                      </m:e>
                      <m:sup>
                        <m:r>
                          <m:rPr>
                            <m:sty m:val="p"/>
                          </m:rPr>
                          <m:t>†</m:t>
                        </m:r>
                      </m:sup>
                    </m:sSup>
                  </m:oMath>
                </a14:m>
                <a:r>
                  <a:rPr/>
                  <a:t> are photon creation and annihilation operators, these are operators increase / lower the number of particles (in this case photons) in a given state by 1</a:t>
                </a:r>
              </a:p>
            </p:txBody>
          </p:sp>
        </mc:Choice>
      </mc:AlternateContent>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Hamiltonian Explained</a:t>
            </a:r>
          </a:p>
        </p:txBody>
      </p:sp>
      <p:sp>
        <p:nvSpPr>
          <p:cNvPr id="3" name="Content Placeholder 2"/>
          <p:cNvSpPr>
            <a:spLocks noGrp="1"/>
          </p:cNvSpPr>
          <p:nvPr>
            <p:ph idx="1"/>
          </p:nvPr>
        </p:nvSpPr>
        <p:spPr/>
        <p:txBody>
          <a:bodyPr/>
          <a:lstStyle/>
          <a:p>
            <a:pPr lvl="0" indent="0">
              <a:buNone/>
            </a:pPr>
            <a:r>
              <a:rPr>
                <a:latin typeface="Courier"/>
              </a:rPr>
              <a:t>We can then go and put everything together term by term, starting with the first term the quantity $\hbar \omega$ corresponds to the energy of a photon and the creation/annihilation operators project that energy onto the amount of particles in each state, this is effectively the energy that corresponds to the cavity that we are working in $H_{cavity}$. The second term is similar in the sense that it is an energy projection but this time it projects the energy of the atom (via photon energy of the interaction between the two states) onto the populations of each state in our atom, in other words this term projects the energy corresponding to the atom to the states of the atom, this is the energy of the atom $H_{atom}$. Together these terms are commonly referred to as $H_0$,"free Hamiltonian" or the "unperturbed Hamiltonian" because it described the system before any interactions go on, which brings us the the third term in our Hamiltonian equation. In the last term we'll notice that rather than a frequency we have a coupling strength, projected onto both photon creation/annihilation and the raising and lowering operators. The presence of creation/annihilation operators tell us that we are changing the amount of particles in our two states and the raising and lowering operators tell us that we are moving particles between states, putting them together tells us that we are changing populations in states all weighed by the outer term dominated by the coupling strength. In other words, the third term is describing the interaction between the cavity and the atom, this term is typically referred to as the interaction Hamiltonian $H_{interaction}$. . All together the Hamiltonian tells us about the energies in each state at a snapshot in time.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Hamiltonian for the Three Level System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Taking the same approach of separating our Hamiltonian by component we can split the three level system, into its components with the following components:</a:t>
                </a:r>
              </a:p>
              <a:p>
                <a:pPr lvl="0"/>
                <a14:m>
                  <m:oMath xmlns:m="http://schemas.openxmlformats.org/officeDocument/2006/math">
                    <m:sSub>
                      <m:e>
                        <m:r>
                          <m:t>H</m:t>
                        </m:r>
                      </m:e>
                      <m:sub>
                        <m:r>
                          <m:t>0</m:t>
                        </m:r>
                      </m:sub>
                    </m:sSub>
                    <m:r>
                      <m:rPr>
                        <m:sty m:val="p"/>
                      </m:rPr>
                      <m:t>=</m:t>
                    </m:r>
                    <m:r>
                      <m:rPr>
                        <m:sty m:val="p"/>
                      </m:rPr>
                      <m:t>ℏ</m:t>
                    </m:r>
                    <m:d>
                      <m:dPr>
                        <m:begChr m:val="("/>
                        <m:sepChr m:val=""/>
                        <m:endChr m:val=")"/>
                        <m:grow/>
                      </m:dPr>
                      <m:e>
                        <m:sSub>
                          <m:e>
                            <m:r>
                              <m:t>Δ</m:t>
                            </m:r>
                          </m:e>
                          <m:sub>
                            <m:r>
                              <m:rPr>
                                <m:nor/>
                                <m:sty m:val="p"/>
                              </m:rPr>
                              <m:t>driv</m:t>
                            </m:r>
                          </m:sub>
                        </m:sSub>
                        <m:sSub>
                          <m:e>
                            <m:acc>
                              <m:accPr>
                                <m:chr m:val="̂"/>
                              </m:accPr>
                              <m:e>
                                <m:r>
                                  <m:t>σ</m:t>
                                </m:r>
                              </m:e>
                            </m:acc>
                          </m:e>
                          <m:sub>
                            <m:r>
                              <m:t>g</m:t>
                            </m:r>
                            <m:r>
                              <m:t>g</m:t>
                            </m:r>
                          </m:sub>
                        </m:sSub>
                        <m:r>
                          <m:rPr>
                            <m:sty m:val="p"/>
                          </m:rPr>
                          <m:t>+</m:t>
                        </m:r>
                        <m:sSub>
                          <m:e>
                            <m:r>
                              <m:t>Δ</m:t>
                            </m:r>
                          </m:e>
                          <m:sub>
                            <m:r>
                              <m:rPr>
                                <m:nor/>
                                <m:sty m:val="p"/>
                              </m:rPr>
                              <m:t>rep</m:t>
                            </m:r>
                          </m:sub>
                        </m:sSub>
                        <m:sSub>
                          <m:e>
                            <m:acc>
                              <m:accPr>
                                <m:chr m:val="̂"/>
                              </m:accPr>
                              <m:e>
                                <m:r>
                                  <m:t>σ</m:t>
                                </m:r>
                              </m:e>
                            </m:acc>
                          </m:e>
                          <m:sub>
                            <m:r>
                              <m:t>s</m:t>
                            </m:r>
                            <m:r>
                              <m:t>s</m:t>
                            </m:r>
                          </m:sub>
                        </m:sSub>
                        <m:r>
                          <m:rPr>
                            <m:sty m:val="p"/>
                          </m:rPr>
                          <m:t>+</m:t>
                        </m:r>
                        <m:d>
                          <m:dPr>
                            <m:begChr m:val="("/>
                            <m:sepChr m:val=""/>
                            <m:endChr m:val=")"/>
                            <m:grow/>
                          </m:dPr>
                          <m:e>
                            <m:sSub>
                              <m:e>
                                <m:r>
                                  <m:t>Δ</m:t>
                                </m:r>
                              </m:e>
                              <m:sub>
                                <m:r>
                                  <m:t>c</m:t>
                                </m:r>
                              </m:sub>
                            </m:sSub>
                            <m:r>
                              <m:rPr>
                                <m:sty m:val="p"/>
                              </m:rPr>
                              <m:t>−</m:t>
                            </m:r>
                            <m:sSub>
                              <m:e>
                                <m:r>
                                  <m:t>Δ</m:t>
                                </m:r>
                              </m:e>
                              <m:sub>
                                <m:r>
                                  <m:rPr>
                                    <m:nor/>
                                    <m:sty m:val="p"/>
                                  </m:rPr>
                                  <m:t>rep</m:t>
                                </m:r>
                              </m:sub>
                            </m:sSub>
                          </m:e>
                        </m:d>
                        <m:sSup>
                          <m:e>
                            <m:acc>
                              <m:accPr>
                                <m:chr m:val="̂"/>
                              </m:accPr>
                              <m:e>
                                <m:r>
                                  <m:t>a</m:t>
                                </m:r>
                              </m:e>
                            </m:acc>
                          </m:e>
                          <m:sup>
                            <m:r>
                              <m:rPr>
                                <m:sty m:val="p"/>
                              </m:rPr>
                              <m:t>†</m:t>
                            </m:r>
                          </m:sup>
                        </m:sSup>
                        <m:acc>
                          <m:accPr>
                            <m:chr m:val="̂"/>
                          </m:accPr>
                          <m:e>
                            <m:r>
                              <m:t>a</m:t>
                            </m:r>
                          </m:e>
                        </m:acc>
                      </m:e>
                    </m:d>
                  </m:oMath>
                </a14:m>
              </a:p>
              <a:p>
                <a:pPr lvl="0"/>
                <a14:m>
                  <m:oMath xmlns:m="http://schemas.openxmlformats.org/officeDocument/2006/math">
                    <m:sSub>
                      <m:e>
                        <m:r>
                          <m:t>H</m:t>
                        </m:r>
                      </m:e>
                      <m:sub>
                        <m:r>
                          <m:t>d</m:t>
                        </m:r>
                        <m:r>
                          <m:t>r</m:t>
                        </m:r>
                        <m:r>
                          <m:t>i</m:t>
                        </m:r>
                        <m:r>
                          <m:t>v</m:t>
                        </m:r>
                        <m:r>
                          <m:t>e</m:t>
                        </m:r>
                      </m:sub>
                    </m:sSub>
                    <m:r>
                      <m:rPr>
                        <m:sty m:val="p"/>
                      </m:rPr>
                      <m:t>=</m:t>
                    </m:r>
                    <m:f>
                      <m:fPr>
                        <m:type m:val="bar"/>
                      </m:fPr>
                      <m:num>
                        <m:r>
                          <m:rPr>
                            <m:sty m:val="p"/>
                          </m:rPr>
                          <m:t>ℏ</m:t>
                        </m:r>
                        <m:sSub>
                          <m:e>
                            <m:r>
                              <m:t>Ω</m:t>
                            </m:r>
                          </m:e>
                          <m:sub>
                            <m:r>
                              <m:rPr>
                                <m:nor/>
                                <m:sty m:val="p"/>
                              </m:rPr>
                              <m:t>driv</m:t>
                            </m:r>
                          </m:sub>
                        </m:sSub>
                      </m:num>
                      <m:den>
                        <m:r>
                          <m:t>2</m:t>
                        </m:r>
                      </m:den>
                    </m:f>
                    <m:sSub>
                      <m:e>
                        <m:acc>
                          <m:accPr>
                            <m:chr m:val="̂"/>
                          </m:accPr>
                          <m:e>
                            <m:r>
                              <m:t>σ</m:t>
                            </m:r>
                          </m:e>
                        </m:acc>
                      </m:e>
                      <m:sub>
                        <m:r>
                          <m:t>g</m:t>
                        </m:r>
                        <m:r>
                          <m:t>e</m:t>
                        </m:r>
                      </m:sub>
                    </m:sSub>
                    <m:r>
                      <m:rPr>
                        <m:sty m:val="p"/>
                      </m:rPr>
                      <m:t>+</m:t>
                    </m:r>
                    <m:r>
                      <m:rPr>
                        <m:nor/>
                        <m:sty m:val="p"/>
                      </m:rPr>
                      <m:t>h.c.</m:t>
                    </m:r>
                  </m:oMath>
                </a14:m>
              </a:p>
              <a:p>
                <a:pPr lvl="0"/>
                <a14:m>
                  <m:oMath xmlns:m="http://schemas.openxmlformats.org/officeDocument/2006/math">
                    <m:sSub>
                      <m:e>
                        <m:r>
                          <m:t>H</m:t>
                        </m:r>
                      </m:e>
                      <m:sub>
                        <m:r>
                          <m:t>r</m:t>
                        </m:r>
                        <m:r>
                          <m:t>e</m:t>
                        </m:r>
                        <m:r>
                          <m:t>p</m:t>
                        </m:r>
                        <m:r>
                          <m:t>u</m:t>
                        </m:r>
                        <m:r>
                          <m:t>m</m:t>
                        </m:r>
                        <m:r>
                          <m:t>p</m:t>
                        </m:r>
                      </m:sub>
                    </m:sSub>
                    <m:r>
                      <m:rPr>
                        <m:sty m:val="p"/>
                      </m:rPr>
                      <m:t>=</m:t>
                    </m:r>
                    <m:f>
                      <m:fPr>
                        <m:type m:val="bar"/>
                      </m:fPr>
                      <m:num>
                        <m:r>
                          <m:rPr>
                            <m:sty m:val="p"/>
                          </m:rPr>
                          <m:t>ℏ</m:t>
                        </m:r>
                        <m:sSub>
                          <m:e>
                            <m:r>
                              <m:t>Ω</m:t>
                            </m:r>
                          </m:e>
                          <m:sub>
                            <m:r>
                              <m:rPr>
                                <m:nor/>
                                <m:sty m:val="p"/>
                              </m:rPr>
                              <m:t>repump</m:t>
                            </m:r>
                          </m:sub>
                        </m:sSub>
                      </m:num>
                      <m:den>
                        <m:r>
                          <m:t>2</m:t>
                        </m:r>
                      </m:den>
                    </m:f>
                    <m:sSub>
                      <m:e>
                        <m:acc>
                          <m:accPr>
                            <m:chr m:val="̂"/>
                          </m:accPr>
                          <m:e>
                            <m:r>
                              <m:t>σ</m:t>
                            </m:r>
                          </m:e>
                        </m:acc>
                      </m:e>
                      <m:sub>
                        <m:r>
                          <m:t>s</m:t>
                        </m:r>
                        <m:r>
                          <m:t>e</m:t>
                        </m:r>
                      </m:sub>
                    </m:sSub>
                    <m:r>
                      <m:rPr>
                        <m:sty m:val="p"/>
                      </m:rPr>
                      <m:t>+</m:t>
                    </m:r>
                    <m:r>
                      <m:rPr>
                        <m:nor/>
                        <m:sty m:val="p"/>
                      </m:rPr>
                      <m:t>h.c.</m:t>
                    </m:r>
                  </m:oMath>
                </a14:m>
              </a:p>
              <a:p>
                <a:pPr lvl="0"/>
                <a14:m>
                  <m:oMath xmlns:m="http://schemas.openxmlformats.org/officeDocument/2006/math">
                    <m:sSub>
                      <m:e>
                        <m:r>
                          <m:t>H</m:t>
                        </m:r>
                      </m:e>
                      <m:sub>
                        <m:r>
                          <m:t>c</m:t>
                        </m:r>
                        <m:r>
                          <m:t>o</m:t>
                        </m:r>
                        <m:r>
                          <m:t>u</m:t>
                        </m:r>
                        <m:r>
                          <m:t>p</m:t>
                        </m:r>
                        <m:r>
                          <m:t>l</m:t>
                        </m:r>
                        <m:r>
                          <m:t>i</m:t>
                        </m:r>
                        <m:r>
                          <m:t>n</m:t>
                        </m:r>
                        <m:r>
                          <m:t>g</m:t>
                        </m:r>
                      </m:sub>
                    </m:sSub>
                    <m:r>
                      <m:rPr>
                        <m:sty m:val="p"/>
                      </m:rPr>
                      <m:t>=</m:t>
                    </m:r>
                    <m:r>
                      <m:rPr>
                        <m:sty m:val="p"/>
                      </m:rPr>
                      <m:t>ℏ</m:t>
                    </m:r>
                    <m:r>
                      <m:t>g</m:t>
                    </m:r>
                    <m:d>
                      <m:dPr>
                        <m:begChr m:val="("/>
                        <m:sepChr m:val=""/>
                        <m:endChr m:val=")"/>
                        <m:grow/>
                      </m:dPr>
                      <m:e>
                        <m:sSup>
                          <m:e>
                            <m:acc>
                              <m:accPr>
                                <m:chr m:val="̂"/>
                              </m:accPr>
                              <m:e>
                                <m:r>
                                  <m:t>a</m:t>
                                </m:r>
                              </m:e>
                            </m:acc>
                          </m:e>
                          <m:sup>
                            <m:r>
                              <m:rPr>
                                <m:sty m:val="p"/>
                              </m:rPr>
                              <m:t>†</m:t>
                            </m:r>
                          </m:sup>
                        </m:sSup>
                        <m:sSub>
                          <m:e>
                            <m:acc>
                              <m:accPr>
                                <m:chr m:val="̂"/>
                              </m:accPr>
                              <m:e>
                                <m:r>
                                  <m:t>σ</m:t>
                                </m:r>
                              </m:e>
                            </m:acc>
                          </m:e>
                          <m:sub>
                            <m:r>
                              <m:t>s</m:t>
                            </m:r>
                            <m:r>
                              <m:t>e</m:t>
                            </m:r>
                          </m:sub>
                        </m:sSub>
                        <m:r>
                          <m:rPr>
                            <m:sty m:val="p"/>
                          </m:rPr>
                          <m:t>+</m:t>
                        </m:r>
                        <m:acc>
                          <m:accPr>
                            <m:chr m:val="̂"/>
                          </m:accPr>
                          <m:e>
                            <m:r>
                              <m:t>a</m:t>
                            </m:r>
                          </m:e>
                        </m:acc>
                        <m:sSub>
                          <m:e>
                            <m:acc>
                              <m:accPr>
                                <m:chr m:val="̂"/>
                              </m:accPr>
                              <m:e>
                                <m:r>
                                  <m:t>σ</m:t>
                                </m:r>
                              </m:e>
                            </m:acc>
                          </m:e>
                          <m:sub>
                            <m:r>
                              <m:t>e</m:t>
                            </m:r>
                            <m:r>
                              <m:t>s</m:t>
                            </m:r>
                          </m:sub>
                        </m:sSub>
                      </m:e>
                    </m:d>
                  </m:oMath>
                </a14:m>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 Explanations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14:m>
                  <m:oMath xmlns:m="http://schemas.openxmlformats.org/officeDocument/2006/math">
                    <m:sSub>
                      <m:e>
                        <m:r>
                          <m:t>Δ</m:t>
                        </m:r>
                      </m:e>
                      <m:sub>
                        <m:r>
                          <m:t>x</m:t>
                        </m:r>
                      </m:sub>
                    </m:sSub>
                  </m:oMath>
                </a14:m>
                <a:r>
                  <a:rPr/>
                  <a:t> - is the detuning of component x (ie either the driving laser, repumping laser or the cavity)</a:t>
                </a:r>
              </a:p>
              <a:p>
                <a:pPr lvl="0"/>
                <a14:m>
                  <m:oMath xmlns:m="http://schemas.openxmlformats.org/officeDocument/2006/math">
                    <m:sSub>
                      <m:e>
                        <m:r>
                          <m:t>Ω</m:t>
                        </m:r>
                      </m:e>
                      <m:sub>
                        <m:r>
                          <m:t>x</m:t>
                        </m:r>
                      </m:sub>
                    </m:sSub>
                  </m:oMath>
                </a14:m>
                <a:r>
                  <a:rPr/>
                  <a:t> - is the Rabi frequency of component x (ie either the driving laser or repumping laser)</a:t>
                </a:r>
              </a:p>
              <a:p>
                <a:pPr lvl="0"/>
                <a14:m>
                  <m:oMath xmlns:m="http://schemas.openxmlformats.org/officeDocument/2006/math">
                    <m:sSub>
                      <m:e>
                        <m:r>
                          <m:t>σ</m:t>
                        </m:r>
                      </m:e>
                      <m:sub>
                        <m:r>
                          <m:t>x</m:t>
                        </m:r>
                        <m:r>
                          <m:t>y</m:t>
                        </m:r>
                      </m:sub>
                    </m:sSub>
                  </m:oMath>
                </a14:m>
                <a:r>
                  <a:rPr/>
                  <a:t> - is the detuning of operator that takes us from level x to y where x,y are the ground state, excited state, and the metastable state</a:t>
                </a:r>
              </a:p>
              <a:p>
                <a:pPr lvl="0"/>
                <a14:m>
                  <m:oMath xmlns:m="http://schemas.openxmlformats.org/officeDocument/2006/math">
                    <m:r>
                      <m:t>h</m:t>
                    </m:r>
                    <m:r>
                      <m:rPr>
                        <m:sty m:val="p"/>
                      </m:rPr>
                      <m:t>.</m:t>
                    </m:r>
                    <m:r>
                      <m:t>c</m:t>
                    </m:r>
                  </m:oMath>
                </a14:m>
                <a:r>
                  <a:rPr/>
                  <a:t> - is the Hermetian conjugate of an operator</a:t>
                </a:r>
              </a:p>
              <a:p>
                <a:pPr lvl="0" indent="0" marL="0">
                  <a:buNone/>
                </a:pPr>
                <a:r>
                  <a:rPr/>
                  <a:t>Our full Hamiltonian that we feed into qutip is given by:</a:t>
                </a:r>
              </a:p>
              <a:p>
                <a:pPr lvl="0" indent="0" marL="0">
                  <a:buNone/>
                </a:pPr>
                <a14:m>
                  <m:oMath xmlns:m="http://schemas.openxmlformats.org/officeDocument/2006/math">
                    <m:r>
                      <m:t>H</m:t>
                    </m:r>
                    <m:r>
                      <m:rPr>
                        <m:sty m:val="p"/>
                      </m:rPr>
                      <m:t>=</m:t>
                    </m:r>
                    <m:sSub>
                      <m:e>
                        <m:r>
                          <m:t>H</m:t>
                        </m:r>
                      </m:e>
                      <m:sub>
                        <m:r>
                          <m:t>0</m:t>
                        </m:r>
                      </m:sub>
                    </m:sSub>
                    <m:r>
                      <m:rPr>
                        <m:sty m:val="p"/>
                      </m:rPr>
                      <m:t>+</m:t>
                    </m:r>
                    <m:sSub>
                      <m:e>
                        <m:r>
                          <m:t>H</m:t>
                        </m:r>
                      </m:e>
                      <m:sub>
                        <m:r>
                          <m:t>d</m:t>
                        </m:r>
                        <m:r>
                          <m:t>r</m:t>
                        </m:r>
                        <m:r>
                          <m:t>i</m:t>
                        </m:r>
                        <m:r>
                          <m:t>v</m:t>
                        </m:r>
                        <m:r>
                          <m:t>e</m:t>
                        </m:r>
                      </m:sub>
                    </m:sSub>
                    <m:r>
                      <m:rPr>
                        <m:sty m:val="p"/>
                      </m:rPr>
                      <m:t>+</m:t>
                    </m:r>
                    <m:sSub>
                      <m:e>
                        <m:r>
                          <m:t>H</m:t>
                        </m:r>
                      </m:e>
                      <m:sub>
                        <m:r>
                          <m:t>r</m:t>
                        </m:r>
                        <m:r>
                          <m:t>e</m:t>
                        </m:r>
                        <m:r>
                          <m:t>p</m:t>
                        </m:r>
                        <m:r>
                          <m:t>u</m:t>
                        </m:r>
                        <m:r>
                          <m:t>m</m:t>
                        </m:r>
                        <m:r>
                          <m:t>p</m:t>
                        </m:r>
                      </m:sub>
                    </m:sSub>
                    <m:r>
                      <m:rPr>
                        <m:sty m:val="p"/>
                      </m:rPr>
                      <m:t>+</m:t>
                    </m:r>
                    <m:sSub>
                      <m:e>
                        <m:r>
                          <m:t>H</m:t>
                        </m:r>
                      </m:e>
                      <m:sub>
                        <m:r>
                          <m:t>c</m:t>
                        </m:r>
                        <m:r>
                          <m:t>o</m:t>
                        </m:r>
                        <m:r>
                          <m:t>u</m:t>
                        </m:r>
                        <m:r>
                          <m:t>p</m:t>
                        </m:r>
                        <m:r>
                          <m:t>l</m:t>
                        </m:r>
                        <m:r>
                          <m:t>i</m:t>
                        </m:r>
                        <m:r>
                          <m:t>n</m:t>
                        </m:r>
                        <m:r>
                          <m:t>g</m:t>
                        </m:r>
                      </m:sub>
                    </m:sSub>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Hamiltonian Explained</a:t>
            </a:r>
          </a:p>
        </p:txBody>
      </p:sp>
      <p:sp>
        <p:nvSpPr>
          <p:cNvPr id="3" name="Content Placeholder 2"/>
          <p:cNvSpPr>
            <a:spLocks noGrp="1"/>
          </p:cNvSpPr>
          <p:nvPr>
            <p:ph idx="1"/>
          </p:nvPr>
        </p:nvSpPr>
        <p:spPr/>
        <p:txBody>
          <a:bodyPr/>
          <a:lstStyle/>
          <a:p>
            <a:pPr lvl="0" indent="0" marL="0">
              <a:buNone/>
            </a:pPr>
            <a:r>
              <a:rPr/>
              <a:t>Taking a look at each component of our Hamiltonian we’ll first notice that our unperturbed Hamiltonian has changed, rather than just dealing with energy terms we are now using detunings and the form of the equation is different. This is a product of working in the rotating frame approximation, this term can still be understood as the energy of each state being projected onto the state by its corresponding operator and the cavity energy term projected onto the creation/annihilation operators. The next two terms for the driving Hamiltonian and Repumping Hamiltonian (which represent the energies of the transition) projected onto the operators that represent their corresponding transitions. The Hermetian conjugate is also included to include the reverse process. Our interaction Hamiltonian term has changed to the coupling Hamiltonian but you’ll notice the form doesn’t change much, in fact it is nearly the same but rather than the raising and lowering operators we had in the two level system we now have operators which take us from the metastable state to the excited state. This term controls the amount of photons in that interaction, which deals with emission and absorption of cavity photons, this is the three level system version of our interaction Hamiltonian in two level case.</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Rabi Hamiltonian (QuTiP)</dc:title>
  <dc:creator>Felix Velasquez</dc:creator>
  <cp:keywords/>
  <dcterms:created xsi:type="dcterms:W3CDTF">2025-10-23T23:40:36Z</dcterms:created>
  <dcterms:modified xsi:type="dcterms:W3CDTF">2025-10-23T23:40:36Z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slide-number">
    <vt:lpwstr>True</vt:lpwstr>
  </property>
  <property fmtid="{D5CDD505-2E9C-101B-9397-08002B2CF9AE}" pid="11" name="toc-title">
    <vt:lpwstr>Table of contents</vt:lpwstr>
  </property>
</Properties>
</file>