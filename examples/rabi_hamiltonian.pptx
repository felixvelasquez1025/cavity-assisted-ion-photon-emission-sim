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Rabi Hamiltonian (QuTiP)</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CAIPE-sim</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Hamiltonian for the Two Level System</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In the two level system we are using the Jaynes-Cumming model for which the Hamiltonian is given by:</a:t>
                </a:r>
              </a:p>
              <a:p>
                <a:pPr lvl="0" indent="0" marL="0">
                  <a:buNone/>
                </a:pPr>
                <a14:m>
                  <m:oMathPara xmlns:m="http://schemas.openxmlformats.org/officeDocument/2006/math">
                    <m:oMathParaPr>
                      <m:jc m:val="center"/>
                    </m:oMathParaPr>
                    <m:oMath>
                      <m:r>
                        <m:t>H</m:t>
                      </m:r>
                      <m:r>
                        <m:rPr>
                          <m:sty m:val="p"/>
                        </m:rPr>
                        <m:t>=</m:t>
                      </m:r>
                      <m:r>
                        <m:rPr>
                          <m:sty m:val="p"/>
                        </m:rPr>
                        <m:t>ℏ</m:t>
                      </m:r>
                      <m:sSub>
                        <m:e>
                          <m:r>
                            <m:t>ω</m:t>
                          </m:r>
                        </m:e>
                        <m:sub>
                          <m:r>
                            <m:t>c</m:t>
                          </m:r>
                        </m:sub>
                      </m:sSub>
                      <m:sSup>
                        <m:e>
                          <m:r>
                            <m:t>a</m:t>
                          </m:r>
                        </m:e>
                        <m:sup>
                          <m:r>
                            <m:rPr>
                              <m:sty m:val="p"/>
                            </m:rPr>
                            <m:t>†</m:t>
                          </m:r>
                        </m:sup>
                      </m:sSup>
                      <m:r>
                        <m:t>a</m:t>
                      </m:r>
                      <m:r>
                        <m:rPr>
                          <m:sty m:val="p"/>
                        </m:rPr>
                        <m:t>+</m:t>
                      </m:r>
                      <m:f>
                        <m:fPr>
                          <m:type m:val="bar"/>
                        </m:fPr>
                        <m:num>
                          <m:r>
                            <m:t>1</m:t>
                          </m:r>
                        </m:num>
                        <m:den>
                          <m:r>
                            <m:t>2</m:t>
                          </m:r>
                        </m:den>
                      </m:f>
                      <m:r>
                        <m:rPr>
                          <m:sty m:val="p"/>
                        </m:rPr>
                        <m:t>ℏ</m:t>
                      </m:r>
                      <m:sSub>
                        <m:e>
                          <m:r>
                            <m:t>ω</m:t>
                          </m:r>
                        </m:e>
                        <m:sub>
                          <m:r>
                            <m:t>a</m:t>
                          </m:r>
                        </m:sub>
                      </m:sSub>
                      <m:sSub>
                        <m:e>
                          <m:r>
                            <m:t>σ</m:t>
                          </m:r>
                        </m:e>
                        <m:sub>
                          <m:r>
                            <m:t>z</m:t>
                          </m:r>
                        </m:sub>
                      </m:sSub>
                      <m:r>
                        <m:rPr>
                          <m:sty m:val="p"/>
                        </m:rPr>
                        <m:t>+</m:t>
                      </m:r>
                      <m:r>
                        <m:rPr>
                          <m:sty m:val="p"/>
                        </m:rPr>
                        <m:t>ℏ</m:t>
                      </m:r>
                      <m:r>
                        <m:t>g</m:t>
                      </m:r>
                      <m:d>
                        <m:dPr>
                          <m:begChr m:val="("/>
                          <m:sepChr m:val=""/>
                          <m:endChr m:val=")"/>
                          <m:grow/>
                        </m:dPr>
                        <m:e>
                          <m:sSup>
                            <m:e>
                              <m:r>
                                <m:t>a</m:t>
                              </m:r>
                            </m:e>
                            <m:sup>
                              <m:r>
                                <m:rPr>
                                  <m:sty m:val="p"/>
                                </m:rPr>
                                <m:t>†</m:t>
                              </m:r>
                            </m:sup>
                          </m:sSup>
                          <m:r>
                            <m:rPr>
                              <m:sty m:val="p"/>
                            </m:rPr>
                            <m:t>+</m:t>
                          </m:r>
                          <m:r>
                            <m:t>a</m:t>
                          </m:r>
                        </m:e>
                      </m:d>
                      <m:d>
                        <m:dPr>
                          <m:begChr m:val="("/>
                          <m:sepChr m:val=""/>
                          <m:endChr m:val=")"/>
                          <m:grow/>
                        </m:dPr>
                        <m:e>
                          <m:sSub>
                            <m:e>
                              <m:r>
                                <m:t>σ</m:t>
                              </m:r>
                            </m:e>
                            <m:sub>
                              <m:r>
                                <m:rPr>
                                  <m:sty m:val="p"/>
                                </m:rPr>
                                <m:t>−</m:t>
                              </m:r>
                            </m:sub>
                          </m:sSub>
                          <m:r>
                            <m:rPr>
                              <m:sty m:val="p"/>
                            </m:rPr>
                            <m:t>+</m:t>
                          </m:r>
                          <m:r>
                            <m:t>σ</m:t>
                          </m:r>
                          <m:r>
                            <m:rPr>
                              <m:sty m:val="p"/>
                            </m:rPr>
                            <m:t>+</m:t>
                          </m:r>
                        </m:e>
                      </m:d>
                    </m:oMath>
                  </m:oMathPara>
                </a14:m>
              </a:p>
              <a:p>
                <a:pPr lvl="0" indent="0" marL="0">
                  <a:buNone/>
                </a:pPr>
                <a:r>
                  <a:rPr/>
                  <a:t>or in the rotating wave approximation we have:</a:t>
                </a:r>
              </a:p>
              <a:p>
                <a:pPr lvl="0" indent="0" marL="0">
                  <a:buNone/>
                </a:pPr>
                <a14:m>
                  <m:oMathPara xmlns:m="http://schemas.openxmlformats.org/officeDocument/2006/math">
                    <m:oMathParaPr>
                      <m:jc m:val="center"/>
                    </m:oMathParaPr>
                    <m:oMath>
                      <m:r>
                        <m:t>H</m:t>
                      </m:r>
                      <m:r>
                        <m:rPr>
                          <m:sty m:val="p"/>
                        </m:rPr>
                        <m:t>=</m:t>
                      </m:r>
                      <m:r>
                        <m:rPr>
                          <m:sty m:val="p"/>
                        </m:rPr>
                        <m:t>ℏ</m:t>
                      </m:r>
                      <m:sSub>
                        <m:e>
                          <m:r>
                            <m:t>ω</m:t>
                          </m:r>
                        </m:e>
                        <m:sub>
                          <m:r>
                            <m:t>c</m:t>
                          </m:r>
                        </m:sub>
                      </m:sSub>
                      <m:sSup>
                        <m:e>
                          <m:r>
                            <m:t>a</m:t>
                          </m:r>
                        </m:e>
                        <m:sup>
                          <m:r>
                            <m:rPr>
                              <m:sty m:val="p"/>
                            </m:rPr>
                            <m:t>†</m:t>
                          </m:r>
                        </m:sup>
                      </m:sSup>
                      <m:r>
                        <m:t>a</m:t>
                      </m:r>
                      <m:r>
                        <m:rPr>
                          <m:sty m:val="p"/>
                        </m:rPr>
                        <m:t>+</m:t>
                      </m:r>
                      <m:f>
                        <m:fPr>
                          <m:type m:val="bar"/>
                        </m:fPr>
                        <m:num>
                          <m:r>
                            <m:t>1</m:t>
                          </m:r>
                        </m:num>
                        <m:den>
                          <m:r>
                            <m:t>2</m:t>
                          </m:r>
                        </m:den>
                      </m:f>
                      <m:r>
                        <m:rPr>
                          <m:sty m:val="p"/>
                        </m:rPr>
                        <m:t>ℏ</m:t>
                      </m:r>
                      <m:sSub>
                        <m:e>
                          <m:r>
                            <m:t>ω</m:t>
                          </m:r>
                        </m:e>
                        <m:sub>
                          <m:r>
                            <m:t>a</m:t>
                          </m:r>
                        </m:sub>
                      </m:sSub>
                      <m:sSub>
                        <m:e>
                          <m:r>
                            <m:t>σ</m:t>
                          </m:r>
                        </m:e>
                        <m:sub>
                          <m:r>
                            <m:t>z</m:t>
                          </m:r>
                        </m:sub>
                      </m:sSub>
                      <m:r>
                        <m:rPr>
                          <m:sty m:val="p"/>
                        </m:rPr>
                        <m:t>+</m:t>
                      </m:r>
                      <m:r>
                        <m:rPr>
                          <m:sty m:val="p"/>
                        </m:rPr>
                        <m:t>ℏ</m:t>
                      </m:r>
                      <m:r>
                        <m:t>g</m:t>
                      </m:r>
                      <m:d>
                        <m:dPr>
                          <m:begChr m:val="("/>
                          <m:sepChr m:val=""/>
                          <m:endChr m:val=")"/>
                          <m:grow/>
                        </m:dPr>
                        <m:e>
                          <m:sSup>
                            <m:e>
                              <m:r>
                                <m:t>a</m:t>
                              </m:r>
                            </m:e>
                            <m:sup>
                              <m:r>
                                <m:rPr>
                                  <m:sty m:val="p"/>
                                </m:rPr>
                                <m:t>†</m:t>
                              </m:r>
                            </m:sup>
                          </m:sSup>
                          <m:sSub>
                            <m:e>
                              <m:r>
                                <m:t>σ</m:t>
                              </m:r>
                            </m:e>
                            <m:sub>
                              <m:r>
                                <m:rPr>
                                  <m:sty m:val="p"/>
                                </m:rPr>
                                <m:t>−</m:t>
                              </m:r>
                            </m:sub>
                          </m:sSub>
                          <m:r>
                            <m:rPr>
                              <m:sty m:val="p"/>
                            </m:rPr>
                            <m:t>+</m:t>
                          </m:r>
                          <m:r>
                            <m:t>a</m:t>
                          </m:r>
                          <m:sSub>
                            <m:e>
                              <m:r>
                                <m:t>σ</m:t>
                              </m:r>
                            </m:e>
                            <m:sub>
                              <m:r>
                                <m:rPr>
                                  <m:sty m:val="p"/>
                                </m:rPr>
                                <m:t>+</m:t>
                              </m:r>
                            </m:sub>
                          </m:sSub>
                        </m:e>
                      </m:d>
                    </m:oMath>
                  </m:oMathPara>
                </a14:m>
              </a:p>
              <a:p>
                <a:pPr lvl="0" indent="0" marL="0">
                  <a:buNone/>
                </a:pPr>
                <a:r>
                  <a:rPr/>
                  <a:t>where</a:t>
                </a:r>
              </a:p>
              <a:p>
                <a:pPr lvl="0"/>
                <a14:m>
                  <m:oMath xmlns:m="http://schemas.openxmlformats.org/officeDocument/2006/math">
                    <m:sSub>
                      <m:e>
                        <m:r>
                          <m:t>ω</m:t>
                        </m:r>
                      </m:e>
                      <m:sub>
                        <m:r>
                          <m:t>c</m:t>
                        </m:r>
                      </m:sub>
                    </m:sSub>
                  </m:oMath>
                </a14:m>
                <a:r>
                  <a:rPr/>
                  <a:t> - is the frequency of the cavity</a:t>
                </a:r>
              </a:p>
              <a:p>
                <a:pPr lvl="0"/>
                <a14:m>
                  <m:oMath xmlns:m="http://schemas.openxmlformats.org/officeDocument/2006/math">
                    <m:sSub>
                      <m:e>
                        <m:r>
                          <m:t>ω</m:t>
                        </m:r>
                      </m:e>
                      <m:sub>
                        <m:r>
                          <m:t>a</m:t>
                        </m:r>
                      </m:sub>
                    </m:sSub>
                  </m:oMath>
                </a14:m>
                <a:r>
                  <a:rPr/>
                  <a:t> - is the frequency of the atom</a:t>
                </a:r>
              </a:p>
              <a:p>
                <a:pPr lvl="0"/>
                <a14:m>
                  <m:oMath xmlns:m="http://schemas.openxmlformats.org/officeDocument/2006/math">
                    <m:r>
                      <m:t>g</m:t>
                    </m:r>
                  </m:oMath>
                </a14:m>
                <a:r>
                  <a:rPr/>
                  <a:t> - is the interaction strength between the two levels</a:t>
                </a:r>
              </a:p>
              <a:p>
                <a:pPr lvl="0"/>
                <a14:m>
                  <m:oMath xmlns:m="http://schemas.openxmlformats.org/officeDocument/2006/math">
                    <m:sSub>
                      <m:e>
                        <m:r>
                          <m:t>σ</m:t>
                        </m:r>
                      </m:e>
                      <m:sub>
                        <m:r>
                          <m:rPr>
                            <m:sty m:val="p"/>
                          </m:rPr>
                          <m:t>+</m:t>
                        </m:r>
                      </m:sub>
                    </m:sSub>
                  </m:oMath>
                </a14:m>
                <a:r>
                  <a:rPr/>
                  <a:t> and </a:t>
                </a:r>
                <a14:m>
                  <m:oMath xmlns:m="http://schemas.openxmlformats.org/officeDocument/2006/math">
                    <m:sSub>
                      <m:e>
                        <m:r>
                          <m:t>σ</m:t>
                        </m:r>
                      </m:e>
                      <m:sub>
                        <m:r>
                          <m:rPr>
                            <m:sty m:val="p"/>
                          </m:rPr>
                          <m:t>−</m:t>
                        </m:r>
                      </m:sub>
                    </m:sSub>
                  </m:oMath>
                </a14:m>
                <a:r>
                  <a:rPr/>
                  <a:t> are the raising and lowering operators respectively, this can be understood as the operators that take a system to the excited state and back down to the ground state respectively</a:t>
                </a:r>
              </a:p>
              <a:p>
                <a:pPr lvl="0"/>
                <a14:m>
                  <m:oMath xmlns:m="http://schemas.openxmlformats.org/officeDocument/2006/math">
                    <m:sSub>
                      <m:e>
                        <m:r>
                          <m:t>σ</m:t>
                        </m:r>
                      </m:e>
                      <m:sub>
                        <m:r>
                          <m:t>z</m:t>
                        </m:r>
                      </m:sub>
                    </m:sSub>
                  </m:oMath>
                </a14:m>
                <a:r>
                  <a:rPr/>
                  <a:t> is the atomic inversion operator, that is the operator that tells us how the populations of each state differ (would be nice to double check this, I am going off intuition have not found a solid description)</a:t>
                </a:r>
              </a:p>
              <a:p>
                <a:pPr lvl="0"/>
                <a14:m>
                  <m:oMath xmlns:m="http://schemas.openxmlformats.org/officeDocument/2006/math">
                    <m:r>
                      <m:t>a</m:t>
                    </m:r>
                  </m:oMath>
                </a14:m>
                <a:r>
                  <a:rPr/>
                  <a:t> and </a:t>
                </a:r>
                <a14:m>
                  <m:oMath xmlns:m="http://schemas.openxmlformats.org/officeDocument/2006/math">
                    <m:sSup>
                      <m:e>
                        <m:r>
                          <m:t>a</m:t>
                        </m:r>
                      </m:e>
                      <m:sup>
                        <m:r>
                          <m:rPr>
                            <m:sty m:val="p"/>
                          </m:rPr>
                          <m:t>†</m:t>
                        </m:r>
                      </m:sup>
                    </m:sSup>
                  </m:oMath>
                </a14:m>
                <a:r>
                  <a:rPr/>
                  <a:t> are photon creation and annihilation operators, these are operators increase / lower the number of particles (in this case photons) in a given state by 1</a:t>
                </a:r>
              </a:p>
              <a:p>
                <a:pPr lvl="1" indent="0" marL="342900">
                  <a:buNone/>
                </a:pPr>
                <a:r>
                  <a:rPr/>
                  <a:t>We can then go and put everything together term by term, starting with the first term the quantity </a:t>
                </a:r>
                <a14:m>
                  <m:oMath xmlns:m="http://schemas.openxmlformats.org/officeDocument/2006/math">
                    <m:r>
                      <m:rPr>
                        <m:sty m:val="p"/>
                      </m:rPr>
                      <m:t>ℏ</m:t>
                    </m:r>
                    <m:r>
                      <m:t>ω</m:t>
                    </m:r>
                  </m:oMath>
                </a14:m>
                <a:r>
                  <a:rPr/>
                  <a:t> corresponds to the energy of a photon and the creation/annihilation operators project that energy onto the amount of particles in each state, this is effectively the energy that corresponds to the cavity that we are working in </a:t>
                </a:r>
                <a14:m>
                  <m:oMath xmlns:m="http://schemas.openxmlformats.org/officeDocument/2006/math">
                    <m:sSub>
                      <m:e>
                        <m:r>
                          <m:t>H</m:t>
                        </m:r>
                      </m:e>
                      <m:sub>
                        <m:r>
                          <m:t>c</m:t>
                        </m:r>
                        <m:r>
                          <m:t>a</m:t>
                        </m:r>
                        <m:r>
                          <m:t>v</m:t>
                        </m:r>
                        <m:r>
                          <m:t>i</m:t>
                        </m:r>
                        <m:r>
                          <m:t>t</m:t>
                        </m:r>
                        <m:r>
                          <m:t>y</m:t>
                        </m:r>
                      </m:sub>
                    </m:sSub>
                  </m:oMath>
                </a14:m>
                <a:r>
                  <a:rPr/>
                  <a:t>. The second term is similar in the sense that it is an energy projection but this time it projects the energy of the atom (via photon energy of the interaction between the two states) onto the populations of each state in our atom, in other words this term projects the energy corresponding to the atom to the states of the atom, this is the energy of the atom </a:t>
                </a:r>
                <a14:m>
                  <m:oMath xmlns:m="http://schemas.openxmlformats.org/officeDocument/2006/math">
                    <m:sSub>
                      <m:e>
                        <m:r>
                          <m:t>H</m:t>
                        </m:r>
                      </m:e>
                      <m:sub>
                        <m:r>
                          <m:t>a</m:t>
                        </m:r>
                        <m:r>
                          <m:t>t</m:t>
                        </m:r>
                        <m:r>
                          <m:t>o</m:t>
                        </m:r>
                        <m:r>
                          <m:t>m</m:t>
                        </m:r>
                      </m:sub>
                    </m:sSub>
                  </m:oMath>
                </a14:m>
                <a:r>
                  <a:rPr/>
                  <a:t>. Together these terms are commonly referred to as </a:t>
                </a:r>
                <a14:m>
                  <m:oMath xmlns:m="http://schemas.openxmlformats.org/officeDocument/2006/math">
                    <m:sSub>
                      <m:e>
                        <m:r>
                          <m:t>H</m:t>
                        </m:r>
                      </m:e>
                      <m:sub>
                        <m:r>
                          <m:t>0</m:t>
                        </m:r>
                      </m:sub>
                    </m:sSub>
                  </m:oMath>
                </a14:m>
                <a:r>
                  <a:rPr/>
                  <a:t>,“free Hamiltonian” or the “unperturbed Hamiltonian” because it described the system before any interactions go on, which brings us the the third term in our Hamiltonian equation. In the last term we’ll notice that rather than a frequency we have a coupling strength, projected onto both photon creation/annihilation and the raising and lowering operators. The presence of creation/annihilation operators tell us that we are changing the amount of particles in our two states and the raising and lowering operators tell us that we are moving particles between states, putting them together tells us that we are changing populations in states all weighed by the outer term dominated by the coupling strength. In other words, the third term is describing the interaction between the cavity and the atom, this term is typically referred to as the interaction Hamiltonian </a:t>
                </a:r>
                <a14:m>
                  <m:oMath xmlns:m="http://schemas.openxmlformats.org/officeDocument/2006/math">
                    <m:sSub>
                      <m:e>
                        <m:r>
                          <m:t>H</m:t>
                        </m:r>
                      </m:e>
                      <m:sub>
                        <m:r>
                          <m:t>i</m:t>
                        </m:r>
                        <m:r>
                          <m:t>n</m:t>
                        </m:r>
                        <m:r>
                          <m:t>t</m:t>
                        </m:r>
                        <m:r>
                          <m:t>e</m:t>
                        </m:r>
                        <m:r>
                          <m:t>r</m:t>
                        </m:r>
                        <m:r>
                          <m:t>a</m:t>
                        </m:r>
                        <m:r>
                          <m:t>c</m:t>
                        </m:r>
                        <m:r>
                          <m:t>t</m:t>
                        </m:r>
                        <m:r>
                          <m:t>i</m:t>
                        </m:r>
                        <m:r>
                          <m:t>o</m:t>
                        </m:r>
                        <m:r>
                          <m:t>n</m:t>
                        </m:r>
                      </m:sub>
                    </m:sSub>
                  </m:oMath>
                </a14:m>
                <a:r>
                  <a:rPr/>
                  <a:t>. . All together the Hamiltonian tells us about the energies in each state at a snapshot in time.</a:t>
                </a:r>
              </a:p>
            </p:txBody>
          </p:sp>
        </mc:Choice>
      </mc:AlternateContent>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Hamiltonian for the Three Level System</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Rabi Hamiltonian (QuTiP)</dc:title>
  <dc:creator>CAIPE-sim</dc:creator>
  <cp:keywords/>
  <dcterms:created xsi:type="dcterms:W3CDTF">2025-10-23T04:17:32Z</dcterms:created>
  <dcterms:modified xsi:type="dcterms:W3CDTF">2025-10-23T04:17:32Z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editor">
    <vt:lpwstr>visual</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lide-number">
    <vt:lpwstr>True</vt:lpwstr>
  </property>
  <property fmtid="{D5CDD505-2E9C-101B-9397-08002B2CF9AE}" pid="11" name="toc-title">
    <vt:lpwstr>Table of contents</vt:lpwstr>
  </property>
</Properties>
</file>